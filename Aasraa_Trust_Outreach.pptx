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4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29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45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3291840" cy="3291840"/>
          </a:xfrm>
          <a:prstGeom prst="ellipse">
            <a:avLst/>
          </a:prstGeom>
          <a:solidFill>
            <a:srgbClr val="7180AC">
              <a:alpha val="4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1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457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492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OUTREACH PROJECT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058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Literacy, Health &amp; Hygiene, DIY Innovation and AI-Powered Livelihoods</a:t>
            </a:r>
            <a:endParaRPr lang="en-US" sz="2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collaboration with </a:t>
            </a:r>
            <a:r>
              <a:rPr lang="en-US" sz="1400" i="1" dirty="0" err="1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Aasraa</a:t>
            </a:r>
            <a:r>
              <a:rPr lang="en-US" sz="1400" i="1" dirty="0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Trust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34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Team, Computer Science &amp; Engineering Dept., IIT Roorkee  |  10 student members  |  Tentative plan, subject to Aasraa Trust's inputs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0" y="1188720"/>
            <a:ext cx="27432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927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80760" y="1280160"/>
            <a:ext cx="24688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Aasraa Trust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Dehradun-based NGO established in 2009 under the Bindal bridge. It works with street and slum children and migrant communities across Uttarakhand through education, vocational training, nutrition, health and shelter programmes.</a:t>
            </a:r>
            <a:endParaRPr lang="en-US" sz="13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workshops: cyber-safety, hygiene, drone &amp; biology building.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6118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7180AC">
              <a:alpha val="65000"/>
            </a:srgbClr>
          </a:solidFill>
          <a:ln w="12700">
            <a:solidFill>
              <a:srgbClr val="A8D0D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130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88720" y="36118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Safety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651760" y="36118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7180AC">
              <a:alpha val="65000"/>
            </a:srgbClr>
          </a:solidFill>
          <a:ln w="12700">
            <a:solidFill>
              <a:srgbClr val="A8D0D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8920" y="38130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00400" y="36118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Hygiene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36118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7180AC">
              <a:alpha val="65000"/>
            </a:srgbClr>
          </a:solidFill>
          <a:ln w="12700">
            <a:solidFill>
              <a:srgbClr val="A8D0DB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8130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212080" y="36118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Engineering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675120" y="361188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7180AC">
              <a:alpha val="65000"/>
            </a:srgbClr>
          </a:solidFill>
          <a:ln w="12700">
            <a:solidFill>
              <a:srgbClr val="A8D0DB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81304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361188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Livelihoods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0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 child deserves a chance to dream in the language of science, technology and opportunity."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45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&amp; Why It Matters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73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connected gaps, one coordinated programme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Roorkee CSE  ·  Aasraa Trust Outreach  ·  2 / 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1920240" cy="64008"/>
          </a:xfrm>
          <a:prstGeom prst="rect">
            <a:avLst/>
          </a:prstGeom>
          <a:solidFill>
            <a:srgbClr val="2B457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23444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 lakh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cases in India in 2025, up from ~22.7 lakh in 2024; over 70% are financial fraud (phishing, OTP, UPI)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10515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051560"/>
            <a:ext cx="1920240" cy="64008"/>
          </a:xfrm>
          <a:prstGeom prst="rect">
            <a:avLst/>
          </a:prstGeom>
          <a:solidFill>
            <a:srgbClr val="7180A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23444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15468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180A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 lakh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five die each year worldwide from diseases linked to poor water, sanitation and hygiene (WHO/UNICEF)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10515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051560"/>
            <a:ext cx="1920240" cy="64008"/>
          </a:xfrm>
          <a:prstGeom prst="rect">
            <a:avLst/>
          </a:prstGeom>
          <a:solidFill>
            <a:srgbClr val="E4927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234440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25780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492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lakh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under-five diarrhoeal deaths estimated yearly in India, tied to poor handwashing and sanitation (UNICEF)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66560" y="105156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66560" y="1051560"/>
            <a:ext cx="1920240" cy="64008"/>
          </a:xfrm>
          <a:prstGeom prst="rect">
            <a:avLst/>
          </a:prstGeom>
          <a:solidFill>
            <a:srgbClr val="A37A7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234440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60920" y="1188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7A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lakh+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16916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 children counted across just 10 Indian cities, most with no access to structured STEM exposure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457200" y="28803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663440" y="288036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94360" y="2944368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 slum and migrant communities in Dehradun rarely interact with technology, engineering or structured health education. Many have never touched a circuit board or learned to avoid an online scam. Meanwhile, families with real creative skills (art, design, tailoring) lack exposure to free digital tools that could raise their income.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4800600" y="294436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4927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fraud is shifting from metros to smaller cities with lower digital literacy, exactly Aasraa's demographic. Over a million children remain out of school, with migrant, slum and construction-worker families over-represented. Aasraa's centres sit at the intersection of all four gaps, so one coordinated programme can create disproportionate impact.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45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Four Modules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73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session + memorable hands-on activity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Roorkee CSE  ·  Aasraa Trust Outreach  ·  3 / 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920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51560"/>
            <a:ext cx="1920240" cy="868680"/>
          </a:xfrm>
          <a:prstGeom prst="rect">
            <a:avLst/>
          </a:prstGeom>
          <a:solidFill>
            <a:srgbClr val="2B457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Cybersecurity &amp; Digital Safety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205740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scams, fake OTP calls, phishing links and fake job/lottery messages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deepfakes with live demonstrations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passwords, app permissions, responsible social media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quiz-based assessment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560320" y="1051560"/>
            <a:ext cx="1920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60320" y="1051560"/>
            <a:ext cx="1920240" cy="868680"/>
          </a:xfrm>
          <a:prstGeom prst="rect">
            <a:avLst/>
          </a:prstGeom>
          <a:solidFill>
            <a:srgbClr val="7180AC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11887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65176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Health &amp; Hygiene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2670048" y="205740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Handwashing technique, oral hygiene, safe drinking water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basics and food safety for daily life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Glow-germ handwashing demo stations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63440" y="1051560"/>
            <a:ext cx="1920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051560"/>
            <a:ext cx="1920240" cy="868680"/>
          </a:xfrm>
          <a:prstGeom prst="rect">
            <a:avLst/>
          </a:prstGeom>
          <a:solidFill>
            <a:srgbClr val="E4927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1887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5488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DIY Drones &amp; Biology Models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4773168" y="205740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assembly of drone kits: motors, propellers, frame, controller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test flights in a cordoned area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Aerodynamics and electronics learned through the build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Heart, cell and DNA models from low-cost materials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66560" y="1051560"/>
            <a:ext cx="1920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66560" y="1051560"/>
            <a:ext cx="1920240" cy="868680"/>
          </a:xfrm>
          <a:prstGeom prst="rect">
            <a:avLst/>
          </a:prstGeom>
          <a:solidFill>
            <a:srgbClr val="A37A7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1887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858000" y="1554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· AI for Livelihoods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876288" y="2057400"/>
            <a:ext cx="171907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artisan uses Gemini-style tools for design drafts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 AI to make a poster, greeting or shop flyer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uses: signage, event posters, vendor social media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Etiquette, limits and editing of AI content; links to art and block-printing tracks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45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Timeline, Budget &amp; Impact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73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hrs per member over 5–6 weeks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Roorkee CSE  ·  Aasraa Trust Outreach  ·  4 / 5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297680" cy="19202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NGO coordination, site visit, needs assessment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development, kit procurement, safety planning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1: Cyber Safety + Health &amp; Hygiene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2: Drone &amp; biology build, test flights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3: AI workshop, mentor circles, caregiver briefing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 5–6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Feedback, documentation, final 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005840"/>
          <a:ext cx="3749040" cy="2072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item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92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(3 visits)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&amp; refreshments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DIY drone kits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Science activity kits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Biology model materials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Hygiene kits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Worksheets &amp; posters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1E2D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(₹2,570 per member)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7A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25,700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D0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7A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520440"/>
            <a:ext cx="82296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180AC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58444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60120" y="3566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Impact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38862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families falling for OTP, phishing and deepfake scams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everyday hygiene, cutting preventable childhood illness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First-hand engineering and biology exposure with no lab access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from craft skills (art, poster-making) to AI-assisted work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IIT Roorkee CSE x Aasraa partnership model for future cohorts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457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731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the Team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731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8D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CSE students, IIT Roorkee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Roorkee CSE  ·  Aasraa Trust Outreach  ·  5 / 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05840"/>
            <a:ext cx="1554480" cy="64008"/>
          </a:xfrm>
          <a:prstGeom prst="rect">
            <a:avLst/>
          </a:prstGeom>
          <a:solidFill>
            <a:srgbClr val="2B4570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1161288"/>
            <a:ext cx="365760" cy="365760"/>
          </a:xfrm>
          <a:prstGeom prst="ellipse">
            <a:avLst/>
          </a:prstGeom>
          <a:solidFill>
            <a:srgbClr val="2B457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Krishna Gupta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24114053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with Aasraa; leads Cybersecurity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" y="24871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krishna_g@cs.iitr.ac.in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121408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21408" y="1005840"/>
            <a:ext cx="1554480" cy="64008"/>
          </a:xfrm>
          <a:prstGeom prst="rect">
            <a:avLst/>
          </a:prstGeom>
          <a:solidFill>
            <a:srgbClr val="2B4570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5768" y="1161288"/>
            <a:ext cx="365760" cy="365760"/>
          </a:xfrm>
          <a:prstGeom prst="ellipse">
            <a:avLst/>
          </a:prstGeom>
          <a:solidFill>
            <a:srgbClr val="2B45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715768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67128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 Reyosh Ojha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167128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24112055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2212848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Co-leads Cybersecurity; scam/deepfake quiz &amp; demos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148840" y="24871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reyosh_io@cs.iitr.ac.in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785616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85616" y="1005840"/>
            <a:ext cx="1554480" cy="64008"/>
          </a:xfrm>
          <a:prstGeom prst="rect">
            <a:avLst/>
          </a:prstGeom>
          <a:solidFill>
            <a:srgbClr val="7180AC"/>
          </a:solidFill>
          <a:ln/>
        </p:spPr>
      </p:sp>
      <p:sp>
        <p:nvSpPr>
          <p:cNvPr id="25" name="Shape 23"/>
          <p:cNvSpPr/>
          <p:nvPr/>
        </p:nvSpPr>
        <p:spPr>
          <a:xfrm>
            <a:off x="4379976" y="1161288"/>
            <a:ext cx="365760" cy="365760"/>
          </a:xfrm>
          <a:prstGeom prst="ellipse">
            <a:avLst/>
          </a:prstGeom>
          <a:solidFill>
            <a:srgbClr val="7180A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79976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831336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Bhavy Ratnman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831336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24114021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3877056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Health &amp; Hygiene; hygiene-kit procurement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813048" y="24871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bhavy_mr@cs.iitr.ac.in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49824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49824" y="1005840"/>
            <a:ext cx="1554480" cy="64008"/>
          </a:xfrm>
          <a:prstGeom prst="rect">
            <a:avLst/>
          </a:prstGeom>
          <a:solidFill>
            <a:srgbClr val="7180AC"/>
          </a:solidFill>
          <a:ln/>
        </p:spPr>
      </p:sp>
      <p:sp>
        <p:nvSpPr>
          <p:cNvPr id="33" name="Shape 31"/>
          <p:cNvSpPr/>
          <p:nvPr/>
        </p:nvSpPr>
        <p:spPr>
          <a:xfrm>
            <a:off x="6044184" y="1161288"/>
            <a:ext cx="365760" cy="365760"/>
          </a:xfrm>
          <a:prstGeom prst="ellipse">
            <a:avLst/>
          </a:prstGeom>
          <a:solidFill>
            <a:srgbClr val="7180AC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044184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95544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Mahak Khushiramani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95544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24114057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5541264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Co-leads Hygiene; menstrual-hygiene session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5477256" y="24871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mahak_k@cs.iitr.ac.in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114032" y="100584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114032" y="1005840"/>
            <a:ext cx="1554480" cy="64008"/>
          </a:xfrm>
          <a:prstGeom prst="rect">
            <a:avLst/>
          </a:prstGeom>
          <a:solidFill>
            <a:srgbClr val="7180AC"/>
          </a:solidFill>
          <a:ln/>
        </p:spPr>
      </p:sp>
      <p:sp>
        <p:nvSpPr>
          <p:cNvPr id="41" name="Shape 39"/>
          <p:cNvSpPr/>
          <p:nvPr/>
        </p:nvSpPr>
        <p:spPr>
          <a:xfrm>
            <a:off x="7708392" y="1161288"/>
            <a:ext cx="365760" cy="365760"/>
          </a:xfrm>
          <a:prstGeom prst="ellipse">
            <a:avLst/>
          </a:prstGeom>
          <a:solidFill>
            <a:srgbClr val="7180A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708392" y="1161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159752" y="15727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Aanvi Jha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159752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24114002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7205472" y="2029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Documentation, feedback forms, final report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7141464" y="248716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aanvi_j@cs.iitr.ac.in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57200" y="28803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2880360"/>
            <a:ext cx="1554480" cy="64008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49" name="Shape 47"/>
          <p:cNvSpPr/>
          <p:nvPr/>
        </p:nvSpPr>
        <p:spPr>
          <a:xfrm>
            <a:off x="1051560" y="3035808"/>
            <a:ext cx="365760" cy="365760"/>
          </a:xfrm>
          <a:prstGeom prst="ellipse">
            <a:avLst/>
          </a:prstGeom>
          <a:solidFill>
            <a:srgbClr val="E49273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5156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Krish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502920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24114051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DIY Drone-Making; test-flight safety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484632" y="4361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krish1@cs.iitr.ac.in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121408" y="28803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121408" y="2880360"/>
            <a:ext cx="1554480" cy="64008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57" name="Shape 55"/>
          <p:cNvSpPr/>
          <p:nvPr/>
        </p:nvSpPr>
        <p:spPr>
          <a:xfrm>
            <a:off x="2715768" y="3035808"/>
            <a:ext cx="365760" cy="365760"/>
          </a:xfrm>
          <a:prstGeom prst="ellipse">
            <a:avLst/>
          </a:prstGeom>
          <a:solidFill>
            <a:srgbClr val="E49273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2715768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2167128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Nitin Yadav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2167128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24114062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2212848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Co-leads Drones; hardware &amp; troubleshooting</a:t>
            </a:r>
            <a:endParaRPr lang="en-US" sz="850" dirty="0"/>
          </a:p>
        </p:txBody>
      </p:sp>
      <p:sp>
        <p:nvSpPr>
          <p:cNvPr id="62" name="Text 60"/>
          <p:cNvSpPr txBox="1"/>
          <p:nvPr/>
        </p:nvSpPr>
        <p:spPr>
          <a:xfrm>
            <a:off x="2148840" y="4361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nitin_y@cs.iitr.ac.in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785616" y="28803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85616" y="2880360"/>
            <a:ext cx="1554480" cy="64008"/>
          </a:xfrm>
          <a:prstGeom prst="rect">
            <a:avLst/>
          </a:prstGeom>
          <a:solidFill>
            <a:srgbClr val="E49273"/>
          </a:solidFill>
          <a:ln/>
        </p:spPr>
      </p:sp>
      <p:sp>
        <p:nvSpPr>
          <p:cNvPr id="65" name="Shape 63"/>
          <p:cNvSpPr/>
          <p:nvPr/>
        </p:nvSpPr>
        <p:spPr>
          <a:xfrm>
            <a:off x="4379976" y="3035808"/>
            <a:ext cx="365760" cy="365760"/>
          </a:xfrm>
          <a:prstGeom prst="ellipse">
            <a:avLst/>
          </a:prstGeom>
          <a:solidFill>
            <a:srgbClr val="E49273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379976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RD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3831336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Rishit Dhanetwal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3831336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24114079</a:t>
            </a:r>
            <a:endParaRPr lang="en-US" sz="800" dirty="0"/>
          </a:p>
        </p:txBody>
      </p:sp>
      <p:sp>
        <p:nvSpPr>
          <p:cNvPr id="69" name="Text 67"/>
          <p:cNvSpPr txBox="1"/>
          <p:nvPr/>
        </p:nvSpPr>
        <p:spPr>
          <a:xfrm>
            <a:off x="3877056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Biology Models; low-cost anatomy/cell activities</a:t>
            </a:r>
            <a:endParaRPr lang="en-US" sz="850" dirty="0"/>
          </a:p>
        </p:txBody>
      </p:sp>
      <p:sp>
        <p:nvSpPr>
          <p:cNvPr id="70" name="Text 68"/>
          <p:cNvSpPr txBox="1"/>
          <p:nvPr/>
        </p:nvSpPr>
        <p:spPr>
          <a:xfrm>
            <a:off x="3813048" y="4361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rishit_d@cs.iitr.ac.in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449824" y="28803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49824" y="2880360"/>
            <a:ext cx="1554480" cy="64008"/>
          </a:xfrm>
          <a:prstGeom prst="rect">
            <a:avLst/>
          </a:prstGeom>
          <a:solidFill>
            <a:srgbClr val="A37A74"/>
          </a:solidFill>
          <a:ln/>
        </p:spPr>
      </p:sp>
      <p:sp>
        <p:nvSpPr>
          <p:cNvPr id="73" name="Shape 71"/>
          <p:cNvSpPr/>
          <p:nvPr/>
        </p:nvSpPr>
        <p:spPr>
          <a:xfrm>
            <a:off x="6044184" y="3035808"/>
            <a:ext cx="365760" cy="365760"/>
          </a:xfrm>
          <a:prstGeom prst="ellipse">
            <a:avLst/>
          </a:prstGeom>
          <a:solidFill>
            <a:srgbClr val="A37A74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044184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5495544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Nakshatra Sihotiya</a:t>
            </a:r>
            <a:endParaRPr lang="en-US" sz="1000" dirty="0"/>
          </a:p>
        </p:txBody>
      </p:sp>
      <p:sp>
        <p:nvSpPr>
          <p:cNvPr id="76" name="Text 74"/>
          <p:cNvSpPr txBox="1"/>
          <p:nvPr/>
        </p:nvSpPr>
        <p:spPr>
          <a:xfrm>
            <a:off x="5495544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24114061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5541264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AI for Livelihoods; Gemini poster demo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5477256" y="4361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nakshatra_s@cs.iitr.ac.in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114032" y="2880360"/>
            <a:ext cx="1554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A8D0D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14032" y="2880360"/>
            <a:ext cx="1554480" cy="64008"/>
          </a:xfrm>
          <a:prstGeom prst="rect">
            <a:avLst/>
          </a:prstGeom>
          <a:solidFill>
            <a:srgbClr val="A37A74"/>
          </a:solidFill>
          <a:ln/>
        </p:spPr>
      </p:sp>
      <p:sp>
        <p:nvSpPr>
          <p:cNvPr id="81" name="Shape 79"/>
          <p:cNvSpPr/>
          <p:nvPr/>
        </p:nvSpPr>
        <p:spPr>
          <a:xfrm>
            <a:off x="7708392" y="3035808"/>
            <a:ext cx="365760" cy="365760"/>
          </a:xfrm>
          <a:prstGeom prst="ellipse">
            <a:avLst/>
          </a:prstGeom>
          <a:solidFill>
            <a:srgbClr val="A37A74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7708392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7159752" y="34472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45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Abhiraj Bharangar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7159752" y="3703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24117002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7205472" y="39044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Co-leads AI module; budget, travel &amp; logistics</a:t>
            </a:r>
            <a:endParaRPr lang="en-US" sz="850" dirty="0"/>
          </a:p>
        </p:txBody>
      </p:sp>
      <p:sp>
        <p:nvSpPr>
          <p:cNvPr id="86" name="Text 84"/>
          <p:cNvSpPr txBox="1"/>
          <p:nvPr/>
        </p:nvSpPr>
        <p:spPr>
          <a:xfrm>
            <a:off x="7141464" y="4361688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718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abhiraj_b@cs.iitr.ac.in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sraa">
  <a:themeElements>
    <a:clrScheme name="Aasraa">
      <a:dk1>
        <a:srgbClr val="1E2D45"/>
      </a:dk1>
      <a:lt1>
        <a:srgbClr val="FFFFFF"/>
      </a:lt1>
      <a:dk2>
        <a:srgbClr val="2B4570"/>
      </a:dk2>
      <a:lt2>
        <a:srgbClr val="F3F8FA"/>
      </a:lt2>
      <a:accent1>
        <a:srgbClr val="7180AC"/>
      </a:accent1>
      <a:accent2>
        <a:srgbClr val="2B4570"/>
      </a:accent2>
      <a:accent3>
        <a:srgbClr val="A8D0DB"/>
      </a:accent3>
      <a:accent4>
        <a:srgbClr val="E49273"/>
      </a:accent4>
      <a:accent5>
        <a:srgbClr val="A37A74"/>
      </a:accent5>
      <a:accent6>
        <a:srgbClr val="7180AC"/>
      </a:accent6>
      <a:hlink>
        <a:srgbClr val="7180AC"/>
      </a:hlink>
      <a:folHlink>
        <a:srgbClr val="A37A74"/>
      </a:folHlink>
    </a:clrScheme>
    <a:fontScheme name="Aasra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1017</Words>
  <Application>Microsoft Office PowerPoint</Application>
  <PresentationFormat>On-screen Show (16:9)</PresentationFormat>
  <Paragraphs>156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Aasraa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Aasraa Trust Outreach</dc:title>
  <dc:subject>PptxGenJS Presentation</dc:subject>
  <dc:creator>PptxGenJS</dc:creator>
  <cp:lastModifiedBy>nitinyadav1515@outlook.com</cp:lastModifiedBy>
  <cp:revision>3</cp:revision>
  <dcterms:created xsi:type="dcterms:W3CDTF">2026-10-07T17:14:06Z</dcterms:created>
  <dcterms:modified xsi:type="dcterms:W3CDTF">2026-10-08T05:56:38Z</dcterms:modified>
</cp:coreProperties>
</file>